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4630400" cy="8229600"/>
  <p:notesSz cx="8229600" cy="146304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Platypi Medium" pitchFamily="2" charset="77"/>
      <p:regular r:id="rId19"/>
    </p:embeddedFont>
    <p:embeddedFont>
      <p:font typeface="Source Serif Pro" panose="02040603050405020204" pitchFamily="18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197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26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74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Unemployment Claims Prediction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 comparative analysis of various models for predicting Initial Claims (IC) and Continuing Claims (CC) for Unemployment Insurance.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054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30958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3352086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33095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Prediction Targets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017306" y="3799999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Initial Claims (IC) and Continuing Claims (CC) for Unemployment Insurance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10171867" y="330958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6937" y="3352086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08983" y="33095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Predictors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908983" y="3799999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Economic indicators and time features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6280190" y="537067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260" y="5413177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17306" y="5370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017306" y="6011713"/>
            <a:ext cx="6819305" cy="182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0" fontAlgn="base">
              <a:spcBef>
                <a:spcPts val="1200"/>
              </a:spcBef>
              <a:spcAft>
                <a:spcPts val="1000"/>
              </a:spcAft>
            </a:pPr>
            <a:r>
              <a:rPr lang="en-GB" i="0" u="none" strike="noStrike" dirty="0">
                <a:solidFill>
                  <a:schemeClr val="bg2">
                    <a:lumMod val="50000"/>
                  </a:schemeClr>
                </a:solidFill>
                <a:effectLst/>
                <a:latin typeface=""/>
              </a:rPr>
              <a:t>OLS Regression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"/>
              </a:rPr>
              <a:t>, Regularization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"/>
              </a:rPr>
              <a:t>, Boosting, </a:t>
            </a:r>
            <a:r>
              <a:rPr lang="en-GB" i="0" u="none" strike="noStrike" dirty="0">
                <a:solidFill>
                  <a:schemeClr val="bg2">
                    <a:lumMod val="50000"/>
                  </a:schemeClr>
                </a:solidFill>
                <a:effectLst/>
                <a:latin typeface=""/>
              </a:rPr>
              <a:t>PCA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"/>
              </a:rPr>
              <a:t>, </a:t>
            </a:r>
            <a:r>
              <a:rPr lang="en-GB" i="0" u="none" strike="noStrike" dirty="0">
                <a:solidFill>
                  <a:schemeClr val="bg2">
                    <a:lumMod val="50000"/>
                  </a:schemeClr>
                </a:solidFill>
                <a:effectLst/>
                <a:latin typeface=""/>
              </a:rPr>
              <a:t>GLM, </a:t>
            </a:r>
          </a:p>
          <a:p>
            <a:pPr rtl="0" fontAlgn="base">
              <a:spcBef>
                <a:spcPts val="1200"/>
              </a:spcBef>
              <a:spcAft>
                <a:spcPts val="1000"/>
              </a:spcAft>
            </a:pPr>
            <a:r>
              <a:rPr lang="en-GB" i="0" u="none" strike="noStrike" dirty="0">
                <a:solidFill>
                  <a:schemeClr val="bg2">
                    <a:lumMod val="50000"/>
                  </a:schemeClr>
                </a:solidFill>
                <a:effectLst/>
                <a:latin typeface=""/>
              </a:rPr>
              <a:t>Time Series Models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"/>
              </a:rPr>
              <a:t>, </a:t>
            </a:r>
            <a:r>
              <a:rPr lang="en-GB" i="0" u="none" strike="noStrike" dirty="0">
                <a:solidFill>
                  <a:schemeClr val="bg2">
                    <a:lumMod val="50000"/>
                  </a:schemeClr>
                </a:solidFill>
                <a:effectLst/>
                <a:latin typeface=""/>
              </a:rPr>
              <a:t>KNN, and Random Forest</a:t>
            </a:r>
            <a:endParaRPr lang="en-US" dirty="0">
              <a:solidFill>
                <a:schemeClr val="bg2">
                  <a:lumMod val="50000"/>
                </a:schemeClr>
              </a:solidFill>
              <a:latin typeface="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5887"/>
            <a:ext cx="70271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KNN Model Optimization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11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Initial Claims (IC)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927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Best k value: 3 neighbors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Test MSE: 2.35e+12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267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Pseudo R²: 0.1379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611642"/>
            <a:ext cx="31995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Continuing Claims (CC)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1927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Best k value: 1 neighbor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Test MSE: 5.30e+09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3267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Pseudo R²: 0.2464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Best K selection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47173"/>
            <a:ext cx="4749046" cy="3799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201489"/>
            <a:ext cx="47490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k=3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858" y="2147173"/>
            <a:ext cx="4423053" cy="35384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03858" y="5940743"/>
            <a:ext cx="77402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k=1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93790" y="70236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962" y="510659"/>
            <a:ext cx="5604629" cy="580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KNN Model Performance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62" y="1578412"/>
            <a:ext cx="5335905" cy="42686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962" y="6055876"/>
            <a:ext cx="5335905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Interpretation: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49962" y="6520101"/>
            <a:ext cx="533590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3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Underestimation</a:t>
            </a: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The model performs decently for small to medium IC values but struggles for extreme large IC values.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9961" y="7453074"/>
            <a:ext cx="5335905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Variability increases with higher IC.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639" y="1578412"/>
            <a:ext cx="5081892" cy="40653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46639" y="5559882"/>
            <a:ext cx="75413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Interpretation: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446639" y="5907286"/>
            <a:ext cx="75413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The model struggles more with CC than IC.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446639" y="6379117"/>
            <a:ext cx="75413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Predictions are less sensitive to changes in actual CC values.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439138" y="6817281"/>
            <a:ext cx="75413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Severe underestimation happens for extremely large CC values.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49962" y="7750254"/>
            <a:ext cx="13330476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09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Residuals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65007"/>
            <a:ext cx="5204341" cy="416337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552" y="1965007"/>
            <a:ext cx="5204341" cy="416337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63552" y="6383536"/>
            <a:ext cx="63805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93790" y="72056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Outlier threshold: 3000000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112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125" y="2699147"/>
            <a:ext cx="6937177" cy="552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Random Forest Implementation</a:t>
            </a:r>
            <a:endParaRPr lang="en-US" sz="3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3517225"/>
            <a:ext cx="884515" cy="14081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68912" y="3694033"/>
            <a:ext cx="2248972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Model Configuration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768912" y="4076462"/>
            <a:ext cx="12242363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500 trees per forest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768912" y="4465558"/>
            <a:ext cx="12242363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Square root of predictors at each split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4925378"/>
            <a:ext cx="884515" cy="14081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68912" y="5102185"/>
            <a:ext cx="221122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Evaluation Metrics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1768912" y="5484614"/>
            <a:ext cx="12242363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Test MSE and Pseudo R²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768912" y="5873710"/>
            <a:ext cx="12242363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Residual analysis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6333530"/>
            <a:ext cx="884515" cy="14081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68912" y="6510338"/>
            <a:ext cx="221122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Visualization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1768912" y="6892766"/>
            <a:ext cx="12242363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True vs Predicted plots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768912" y="7281863"/>
            <a:ext cx="12242363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Residual plots and histograms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98144"/>
            <a:ext cx="79473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Random Forest Performance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93790" y="3347085"/>
            <a:ext cx="13042821" cy="1966198"/>
          </a:xfrm>
          <a:prstGeom prst="roundRect">
            <a:avLst>
              <a:gd name="adj" fmla="val 173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354705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9653" y="349841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Metric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75077" y="349841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CC Random Forest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716691" y="349841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IC Random Forest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4005024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9653" y="414873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Test MSE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75077" y="414873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5.32e+09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16691" y="414873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2.42e+12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4655344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9653" y="479905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Pseudo R²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5077" y="4799052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0.2545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716691" y="479905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0.1183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556843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CC model shows more stable residuals and consistent errors across prediction values compared to IC model.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7463" y="516612"/>
            <a:ext cx="6582132" cy="58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Random Forest Performance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63" y="1596747"/>
            <a:ext cx="5877520" cy="47020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7463" y="6510099"/>
            <a:ext cx="5877520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Interpretation: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57463" y="6979682"/>
            <a:ext cx="5877520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Clustered along the left side of the 45-degree line.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57463" y="7345918"/>
            <a:ext cx="5877520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More spread, especially at larger IC values.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994" y="1596747"/>
            <a:ext cx="5710178" cy="45680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00994" y="6456104"/>
            <a:ext cx="6979444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Interpretation: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000994" y="6895147"/>
            <a:ext cx="6979444" cy="60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The predictions generally follow the trend but show deviation at higher CC values (flattening effect).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57463" y="7923490"/>
            <a:ext cx="13315474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80" y="562689"/>
            <a:ext cx="5116354" cy="639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Residuals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44" y="1355082"/>
            <a:ext cx="4342417" cy="34739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6818" y="4979850"/>
            <a:ext cx="459176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Residuals are more dispersed compared to CC.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6816" y="5458123"/>
            <a:ext cx="4499145" cy="106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Heteroskedasticity observed — errors tend to grow with larger IC predictions.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315" y="1306457"/>
            <a:ext cx="4591770" cy="36733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13992" y="4979963"/>
            <a:ext cx="4297093" cy="106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Here, most residuals are centered around 0, but outliers appear for high CC predictions.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16280" y="7856339"/>
            <a:ext cx="1319784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8F06FE4D-5142-914D-8F54-67A565DAC2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4349" y="149281"/>
            <a:ext cx="4519627" cy="3615667"/>
          </a:xfrm>
          <a:prstGeom prst="rect">
            <a:avLst/>
          </a:prstGeom>
        </p:spPr>
      </p:pic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7E54A618-674C-5548-8342-CCA1BB7E18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5762" y="4050702"/>
            <a:ext cx="4502269" cy="36017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3301" y="544711"/>
            <a:ext cx="4952405" cy="619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 example tree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01" y="1559957"/>
            <a:ext cx="6982897" cy="5586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3301" y="7369016"/>
            <a:ext cx="13243798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392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Final Recommendations (comparing the two models)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424" y="3715107"/>
            <a:ext cx="3228022" cy="13069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4331137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95261" y="39419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Optimal Solution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895261" y="4432340"/>
            <a:ext cx="35638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Use both models for their strengths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5725120" y="5035153"/>
            <a:ext cx="8054816" cy="15240"/>
          </a:xfrm>
          <a:prstGeom prst="roundRect">
            <a:avLst>
              <a:gd name="adj" fmla="val 223256"/>
            </a:avLst>
          </a:prstGeom>
          <a:solidFill>
            <a:srgbClr val="D8D4D4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78730"/>
            <a:ext cx="6456164" cy="130694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5532834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509272" y="53055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Model Selection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7509272" y="5795963"/>
            <a:ext cx="34557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KNN for IC, Random Forest for CC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386</Words>
  <Application>Microsoft Macintosh PowerPoint</Application>
  <PresentationFormat>Custom</PresentationFormat>
  <Paragraphs>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Platypi Medium</vt:lpstr>
      <vt:lpstr>Source Serif Pro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雨希 肖</cp:lastModifiedBy>
  <cp:revision>6</cp:revision>
  <dcterms:created xsi:type="dcterms:W3CDTF">2025-04-28T20:17:43Z</dcterms:created>
  <dcterms:modified xsi:type="dcterms:W3CDTF">2025-04-29T18:22:45Z</dcterms:modified>
</cp:coreProperties>
</file>